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75" y="-1143000"/>
            <a:ext cx="3714750" cy="3714750"/>
          </a:xfrm>
          <a:prstGeom prst="roundRect">
            <a:avLst>
              <a:gd name="adj" fmla="val 2563846"/>
            </a:avLst>
          </a:prstGeom>
          <a:solidFill>
            <a:srgbClr val="2F81C2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-1285875" y="2428875"/>
            <a:ext cx="4286250" cy="4286250"/>
          </a:xfrm>
          <a:prstGeom prst="roundRect">
            <a:avLst>
              <a:gd name="adj" fmla="val 2222000"/>
            </a:avLst>
          </a:prstGeom>
          <a:solidFill>
            <a:srgbClr val="E2495B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812150" y="4839221"/>
            <a:ext cx="16519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07194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78988" y="42898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547" dirty="0"/>
          </a:p>
        </p:txBody>
      </p:sp>
      <p:sp>
        <p:nvSpPr>
          <p:cNvPr id="8" name="Text 5"/>
          <p:cNvSpPr/>
          <p:nvPr/>
        </p:nvSpPr>
        <p:spPr>
          <a:xfrm>
            <a:off x="800100" y="400050"/>
            <a:ext cx="122826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MedAssist AI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800100" y="578644"/>
            <a:ext cx="113185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Riverside Community Clinic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789844"/>
            <a:ext cx="8229600" cy="258180"/>
          </a:xfrm>
          <a:prstGeom prst="roundRect">
            <a:avLst>
              <a:gd name="adj" fmla="val 3685597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28663" y="1861282"/>
            <a:ext cx="3372966" cy="126609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spc="59" kern="0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HACKATHON THEME 2 · AI AUTOMATION &amp; INTELLIGENT AGENTS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1500" y="186887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457200" y="2205186"/>
            <a:ext cx="8636000" cy="566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31"/>
              </a:lnSpc>
              <a:buNone/>
            </a:pPr>
            <a:r>
              <a:rPr lang="en-US" sz="4050" b="1" spc="-101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MedAssist AI</a:t>
            </a:r>
            <a:endParaRPr lang="en-US" sz="4050" dirty="0"/>
          </a:p>
        </p:txBody>
      </p:sp>
      <p:sp>
        <p:nvSpPr>
          <p:cNvPr id="14" name="Text 11"/>
          <p:cNvSpPr/>
          <p:nvPr/>
        </p:nvSpPr>
        <p:spPr>
          <a:xfrm>
            <a:off x="457200" y="2858393"/>
            <a:ext cx="5143500" cy="51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Healthcare Copilot that assists triage, identifies medicines, and routes cases — with a doctor always in the loop.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34340" y="4515331"/>
            <a:ext cx="766681" cy="240920"/>
          </a:xfrm>
          <a:prstGeom prst="roundRect">
            <a:avLst>
              <a:gd name="adj" fmla="val 3949641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92944" y="4578139"/>
            <a:ext cx="39234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Triage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0069" y="45857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984" dirty="0"/>
          </a:p>
        </p:txBody>
      </p:sp>
      <p:sp>
        <p:nvSpPr>
          <p:cNvPr id="18" name="Text 15"/>
          <p:cNvSpPr/>
          <p:nvPr/>
        </p:nvSpPr>
        <p:spPr>
          <a:xfrm>
            <a:off x="1212451" y="4515331"/>
            <a:ext cx="1014256" cy="240920"/>
          </a:xfrm>
          <a:prstGeom prst="roundRect">
            <a:avLst>
              <a:gd name="adj" fmla="val 3949641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471054" y="4578139"/>
            <a:ext cx="63992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Medicine Lens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328179" y="45857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984" dirty="0"/>
          </a:p>
        </p:txBody>
      </p:sp>
      <p:sp>
        <p:nvSpPr>
          <p:cNvPr id="21" name="Text 18"/>
          <p:cNvSpPr/>
          <p:nvPr/>
        </p:nvSpPr>
        <p:spPr>
          <a:xfrm>
            <a:off x="2238137" y="4515331"/>
            <a:ext cx="988472" cy="240920"/>
          </a:xfrm>
          <a:prstGeom prst="roundRect">
            <a:avLst>
              <a:gd name="adj" fmla="val 3949641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496741" y="4578139"/>
            <a:ext cx="6141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Queue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353866" y="458572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24" name="Text 21"/>
          <p:cNvSpPr/>
          <p:nvPr/>
        </p:nvSpPr>
        <p:spPr>
          <a:xfrm>
            <a:off x="7901357" y="4529138"/>
            <a:ext cx="78544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by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901357" y="4636294"/>
            <a:ext cx="78544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MedAssist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1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4340" y="387248"/>
            <a:ext cx="1050310" cy="240920"/>
          </a:xfrm>
          <a:prstGeom prst="roundRect">
            <a:avLst>
              <a:gd name="adj" fmla="val 3949641"/>
            </a:avLst>
          </a:prstGeom>
          <a:solidFill>
            <a:srgbClr val="E2495B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92944" y="450056"/>
            <a:ext cx="67597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E2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50069" y="45764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249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457200" y="815392"/>
            <a:ext cx="4416512" cy="69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34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Clinics drown in repetitive admin while patients wait.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57200" y="1626877"/>
            <a:ext cx="4000500" cy="148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9"/>
              </a:lnSpc>
              <a:buNone/>
            </a:pPr>
            <a:r>
              <a:rPr lang="en-US" sz="956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Community clinics spend hours on manual triage calls, medicine identification requests, appointment routing, and follow-up reminders. Front-desk staff repeat the same answers, doctors juggle unstructured patient notes, and patients wait — sometimes dangerously long — for someone to decide how urgent their case is. There is no shared copilot that handles the non-clinical busywork so the doctor can focus on the decision.</a:t>
            </a:r>
            <a:endParaRPr lang="en-US" sz="956" dirty="0"/>
          </a:p>
        </p:txBody>
      </p:sp>
      <p:sp>
        <p:nvSpPr>
          <p:cNvPr id="8" name="Text 5"/>
          <p:cNvSpPr/>
          <p:nvPr/>
        </p:nvSpPr>
        <p:spPr>
          <a:xfrm>
            <a:off x="457200" y="321122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249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1266" dirty="0"/>
          </a:p>
        </p:txBody>
      </p:sp>
      <p:sp>
        <p:nvSpPr>
          <p:cNvPr id="9" name="Text 6"/>
          <p:cNvSpPr/>
          <p:nvPr/>
        </p:nvSpPr>
        <p:spPr>
          <a:xfrm>
            <a:off x="671513" y="3203637"/>
            <a:ext cx="4202199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cost is paid in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staff hours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safety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220184" y="818964"/>
            <a:ext cx="3463044" cy="635794"/>
          </a:xfrm>
          <a:prstGeom prst="roundRect">
            <a:avLst>
              <a:gd name="adj" fmla="val 26966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66631" y="965411"/>
            <a:ext cx="1485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F81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70%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6438193" y="1064307"/>
            <a:ext cx="2105732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front-desk time is repetitive admin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220184" y="1547626"/>
            <a:ext cx="3463044" cy="635794"/>
          </a:xfrm>
          <a:prstGeom prst="roundRect">
            <a:avLst>
              <a:gd name="adj" fmla="val 26966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366631" y="1694073"/>
            <a:ext cx="177128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E249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3+ hrs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6748165" y="1792970"/>
            <a:ext cx="1891442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wasted daily on manual triage &amp; routing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220184" y="2276289"/>
            <a:ext cx="3463044" cy="978694"/>
          </a:xfrm>
          <a:prstGeom prst="roundRect">
            <a:avLst>
              <a:gd name="adj" fmla="val 17518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366631" y="2422736"/>
            <a:ext cx="170168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3F6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in 4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6699498" y="2620640"/>
            <a:ext cx="1837283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patients wait too long for urgency decisions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812150" y="4839221"/>
            <a:ext cx="16519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7248"/>
            <a:ext cx="1065714" cy="240920"/>
          </a:xfrm>
          <a:prstGeom prst="roundRect">
            <a:avLst>
              <a:gd name="adj" fmla="val 3949641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2944" y="450056"/>
            <a:ext cx="69138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0069" y="45764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758242"/>
            <a:ext cx="82296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34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shared AI copilot across the whole clinic.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7200" y="1192560"/>
            <a:ext cx="5715000" cy="694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MedAssist AI automates the non-clinical busywork — patient intake, medicine identification, case summarization, reminders — while keeping every clinical decision with a human doctor.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60772" y="2039094"/>
            <a:ext cx="2640732" cy="2700784"/>
          </a:xfrm>
          <a:prstGeom prst="roundRect">
            <a:avLst>
              <a:gd name="adj" fmla="val 6493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794" y="2214116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155" y="2244477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2109" dirty="0"/>
          </a:p>
        </p:txBody>
      </p:sp>
      <p:sp>
        <p:nvSpPr>
          <p:cNvPr id="10" name="Text 8"/>
          <p:cNvSpPr/>
          <p:nvPr/>
        </p:nvSpPr>
        <p:spPr>
          <a:xfrm>
            <a:off x="2802582" y="2333439"/>
            <a:ext cx="123899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b="1" spc="81" kern="0" dirty="0">
                <a:solidFill>
                  <a:srgbClr val="2F81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794" y="2728466"/>
            <a:ext cx="2290688" cy="215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Patient Chat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35794" y="2984860"/>
            <a:ext cx="2290688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triage that asks focused follow-ups, recommends a department, and auto-flags emergencies in real time.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51522" y="2039094"/>
            <a:ext cx="2640843" cy="2700784"/>
          </a:xfrm>
          <a:prstGeom prst="roundRect">
            <a:avLst>
              <a:gd name="adj" fmla="val 6492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26544" y="2214116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56905" y="2244477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2109" dirty="0"/>
          </a:p>
        </p:txBody>
      </p:sp>
      <p:sp>
        <p:nvSpPr>
          <p:cNvPr id="16" name="Text 14"/>
          <p:cNvSpPr/>
          <p:nvPr/>
        </p:nvSpPr>
        <p:spPr>
          <a:xfrm>
            <a:off x="5593445" y="2333439"/>
            <a:ext cx="123899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b="1" spc="81" kern="0" dirty="0">
                <a:solidFill>
                  <a:srgbClr val="2F81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6544" y="2728466"/>
            <a:ext cx="2290800" cy="215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Medicine Lens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3426544" y="2984860"/>
            <a:ext cx="2290800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Google-Lens-style image identification — point a camera at any medicine to read packaging and explain the category, with safety guardrails.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42385" y="2039094"/>
            <a:ext cx="2640732" cy="2700784"/>
          </a:xfrm>
          <a:prstGeom prst="roundRect">
            <a:avLst>
              <a:gd name="adj" fmla="val 6493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7407" y="2214116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47767" y="2244477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2109" dirty="0"/>
          </a:p>
        </p:txBody>
      </p:sp>
      <p:sp>
        <p:nvSpPr>
          <p:cNvPr id="22" name="Text 20"/>
          <p:cNvSpPr/>
          <p:nvPr/>
        </p:nvSpPr>
        <p:spPr>
          <a:xfrm>
            <a:off x="8384195" y="2333439"/>
            <a:ext cx="123899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b="1" spc="81" kern="0" dirty="0">
                <a:solidFill>
                  <a:srgbClr val="2F81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407" y="2728466"/>
            <a:ext cx="2290688" cy="215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in the Loop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6217407" y="2984860"/>
            <a:ext cx="2290688" cy="52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drafts case summaries; a doctor reviews, adds notes, and confirms every decision before anything is acted on.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812150" y="4839221"/>
            <a:ext cx="16519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87248"/>
            <a:ext cx="1083015" cy="240920"/>
          </a:xfrm>
          <a:prstGeom prst="roundRect">
            <a:avLst>
              <a:gd name="adj" fmla="val 3949641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2944" y="450056"/>
            <a:ext cx="70868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0069" y="45764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7722461" y="441238"/>
            <a:ext cx="96433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modules · 1 workflow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29667"/>
            <a:ext cx="8229600" cy="311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025" b="1" spc="-30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modules. One workflow.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460772" y="1192671"/>
            <a:ext cx="2659819" cy="1712826"/>
          </a:xfrm>
          <a:prstGeom prst="roundRect">
            <a:avLst>
              <a:gd name="adj" fmla="val 10010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219" y="1339118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5793" y="135769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2860625" y="1339118"/>
            <a:ext cx="11351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74" kern="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7219" y="1710593"/>
            <a:ext cx="236692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Triage Chat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7219" y="1896331"/>
            <a:ext cx="2366925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asks ≤2 follow-ups, recommends department, detects emergencies via EMERGENCY_FLAG protocol.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42035" y="1192671"/>
            <a:ext cx="2659819" cy="1712826"/>
          </a:xfrm>
          <a:prstGeom prst="roundRect">
            <a:avLst>
              <a:gd name="adj" fmla="val 10010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88482" y="1339118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07055" y="135769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5641888" y="1339118"/>
            <a:ext cx="11351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74" kern="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8482" y="1710593"/>
            <a:ext cx="236692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Medicine Assistant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8482" y="1896331"/>
            <a:ext cx="2366925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Camera or upload → VLM reads packaging, explains category, refuses to guess unmarked pills.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23297" y="1192671"/>
            <a:ext cx="2659931" cy="1712826"/>
          </a:xfrm>
          <a:prstGeom prst="roundRect">
            <a:avLst>
              <a:gd name="adj" fmla="val 10010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69744" y="1339118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88318" y="135769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8423263" y="1339118"/>
            <a:ext cx="11351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74" kern="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69744" y="1710593"/>
            <a:ext cx="236703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Queue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69744" y="1896331"/>
            <a:ext cx="2367037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AI summaries, add notes, Confirm/Reject/Escalate — every decision is human.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0772" y="3026941"/>
            <a:ext cx="2659819" cy="1712937"/>
          </a:xfrm>
          <a:prstGeom prst="roundRect">
            <a:avLst>
              <a:gd name="adj" fmla="val 10009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7219" y="3173388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5793" y="319196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2860625" y="3173388"/>
            <a:ext cx="11351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74" kern="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7219" y="3544863"/>
            <a:ext cx="236692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Staff 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7219" y="3730600"/>
            <a:ext cx="2366925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stat cards, full case list, and AI-drafted SMS reminders per patient.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42035" y="3026941"/>
            <a:ext cx="2659819" cy="1712937"/>
          </a:xfrm>
          <a:prstGeom prst="roundRect">
            <a:avLst>
              <a:gd name="adj" fmla="val 10009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88482" y="3173388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07055" y="319196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5641888" y="3173388"/>
            <a:ext cx="11351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74" kern="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88482" y="3544863"/>
            <a:ext cx="2366925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History Timeline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8482" y="3730600"/>
            <a:ext cx="2366925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resolved/rejected case with filter chips and doctor notes for audit.</a:t>
            </a:r>
            <a:endParaRPr lang="en-US" sz="8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726" y="3023369"/>
            <a:ext cx="2667074" cy="1720081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023297" y="3026941"/>
            <a:ext cx="2659931" cy="1712937"/>
          </a:xfrm>
          <a:prstGeom prst="roundRect">
            <a:avLst>
              <a:gd name="adj" fmla="val 10009"/>
            </a:avLst>
          </a:prstGeom>
          <a:noFill/>
          <a:ln w="7144">
            <a:solidFill>
              <a:srgbClr val="E2495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169744" y="3173388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E2495B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188318" y="319196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E249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1" name="Text 38"/>
          <p:cNvSpPr/>
          <p:nvPr/>
        </p:nvSpPr>
        <p:spPr>
          <a:xfrm>
            <a:off x="8423263" y="3173388"/>
            <a:ext cx="11351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74" kern="0" dirty="0">
                <a:solidFill>
                  <a:srgbClr val="E249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169744" y="3544863"/>
            <a:ext cx="2367037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Support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169744" y="3730600"/>
            <a:ext cx="2367037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One-tap ambulance (108), nearest hospitals, live escalation from any screen.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812150" y="4839221"/>
            <a:ext cx="16519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415265"/>
            <a:ext cx="1091498" cy="240920"/>
          </a:xfrm>
          <a:prstGeom prst="roundRect">
            <a:avLst>
              <a:gd name="adj" fmla="val 3949641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2944" y="478073"/>
            <a:ext cx="7171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0069" y="4856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7674955" y="400050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07102" y="43219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8017855" y="452735"/>
            <a:ext cx="784004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MedAssist AI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457200" y="814388"/>
            <a:ext cx="82296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51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to doctor, with 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51" kern="0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51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 every step.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57200" y="1167222"/>
            <a:ext cx="5429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connected steps from first message to logged case — AI handles the busywork, a doctor makes every clinical call.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60772" y="1703003"/>
            <a:ext cx="1421606" cy="1993106"/>
          </a:xfrm>
          <a:prstGeom prst="roundRect">
            <a:avLst>
              <a:gd name="adj" fmla="val 12060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8644" y="1820875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2F81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8644" y="18208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8644" y="21352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688" dirty="0"/>
          </a:p>
        </p:txBody>
      </p:sp>
      <p:sp>
        <p:nvSpPr>
          <p:cNvPr id="14" name="Text 12"/>
          <p:cNvSpPr/>
          <p:nvPr/>
        </p:nvSpPr>
        <p:spPr>
          <a:xfrm>
            <a:off x="578644" y="2363800"/>
            <a:ext cx="781780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chats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578644" y="2558467"/>
            <a:ext cx="12570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Describes symptoms to the AI receptionist in plain language.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43100" y="26281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98A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2146697" y="1703003"/>
            <a:ext cx="1421606" cy="1993106"/>
          </a:xfrm>
          <a:prstGeom prst="roundRect">
            <a:avLst>
              <a:gd name="adj" fmla="val 12060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64569" y="1820875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2F81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264569" y="18208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64569" y="21352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2264569" y="2363800"/>
            <a:ext cx="572337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triages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2264569" y="2558467"/>
            <a:ext cx="12570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asks follow-ups, recommends department, assigns urgency, flags emergencies.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29025" y="26281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98A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24" name="Text 22"/>
          <p:cNvSpPr/>
          <p:nvPr/>
        </p:nvSpPr>
        <p:spPr>
          <a:xfrm>
            <a:off x="3832622" y="1703003"/>
            <a:ext cx="1421606" cy="1993106"/>
          </a:xfrm>
          <a:prstGeom prst="roundRect">
            <a:avLst>
              <a:gd name="adj" fmla="val 12060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50494" y="1820875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2F81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50494" y="18208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50494" y="21352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3950494" y="2363800"/>
            <a:ext cx="782041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Case created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3950494" y="2558467"/>
            <a:ext cx="12570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generates a structured JSON summary → saved to the doctor queue.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14950" y="26281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98A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5518547" y="1703003"/>
            <a:ext cx="1421606" cy="1993106"/>
          </a:xfrm>
          <a:prstGeom prst="roundRect">
            <a:avLst>
              <a:gd name="adj" fmla="val 12060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36419" y="1820875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2F81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36419" y="18208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36419" y="21352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35" name="Text 33"/>
          <p:cNvSpPr/>
          <p:nvPr/>
        </p:nvSpPr>
        <p:spPr>
          <a:xfrm>
            <a:off x="5636419" y="2363800"/>
            <a:ext cx="907367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decides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5636419" y="2558467"/>
            <a:ext cx="12570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reviews, adds notes, and Confirms, Rejects, or Escalates.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00875" y="26281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B98A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38" name="Text 36"/>
          <p:cNvSpPr/>
          <p:nvPr/>
        </p:nvSpPr>
        <p:spPr>
          <a:xfrm>
            <a:off x="7204472" y="1703003"/>
            <a:ext cx="1421606" cy="1993106"/>
          </a:xfrm>
          <a:prstGeom prst="roundRect">
            <a:avLst>
              <a:gd name="adj" fmla="val 12060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22344" y="1820875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2F81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322344" y="18208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22344" y="213520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42" name="Text 40"/>
          <p:cNvSpPr/>
          <p:nvPr/>
        </p:nvSpPr>
        <p:spPr>
          <a:xfrm>
            <a:off x="7322344" y="2363800"/>
            <a:ext cx="907105" cy="1672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notified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7322344" y="2558467"/>
            <a:ext cx="125701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AI-drafted SMS reminder sent; case logged in history for audit.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60772" y="3874703"/>
            <a:ext cx="8222456" cy="401836"/>
          </a:xfrm>
          <a:prstGeom prst="roundRect">
            <a:avLst>
              <a:gd name="adj" fmla="val 42667"/>
            </a:avLst>
          </a:prstGeom>
          <a:solidFill>
            <a:srgbClr val="E2495B">
              <a:alpha val="14000"/>
            </a:srgbClr>
          </a:solidFill>
          <a:ln w="7144">
            <a:solidFill>
              <a:srgbClr val="E2495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78644" y="399704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249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46" name="Text 44"/>
          <p:cNvSpPr/>
          <p:nvPr/>
        </p:nvSpPr>
        <p:spPr>
          <a:xfrm>
            <a:off x="821531" y="3992575"/>
            <a:ext cx="7743825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guardrail: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E2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never diagnoses or prescribes.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 doctor makes every clinical call.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8812150" y="4839221"/>
            <a:ext cx="16519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415265"/>
            <a:ext cx="965924" cy="240920"/>
          </a:xfrm>
          <a:prstGeom prst="roundRect">
            <a:avLst>
              <a:gd name="adj" fmla="val 3949641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2944" y="478073"/>
            <a:ext cx="59159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0069" y="4856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7674955" y="400050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07102" y="43219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8017855" y="452735"/>
            <a:ext cx="784004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MedAssist AI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457200" y="814388"/>
            <a:ext cx="82296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51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on a modern, 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51" kern="0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production-ready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51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stack.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57200" y="1167222"/>
            <a:ext cx="58578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Next.js 16 foundation, dual AI models (LLM + VLM), a type-safe data layer, and realtime sockets — engineered for a clinic that never stops.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60772" y="1674428"/>
            <a:ext cx="3631816" cy="935831"/>
          </a:xfrm>
          <a:prstGeom prst="roundRect">
            <a:avLst>
              <a:gd name="adj" fmla="val 18321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7219" y="1879141"/>
            <a:ext cx="3338922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2F81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607219" y="2250616"/>
            <a:ext cx="333892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modules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0772" y="2703128"/>
            <a:ext cx="3631816" cy="935831"/>
          </a:xfrm>
          <a:prstGeom prst="roundRect">
            <a:avLst>
              <a:gd name="adj" fmla="val 18321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7219" y="2907841"/>
            <a:ext cx="3338922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E2495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475" dirty="0"/>
          </a:p>
        </p:txBody>
      </p:sp>
      <p:sp>
        <p:nvSpPr>
          <p:cNvPr id="15" name="Text 13"/>
          <p:cNvSpPr/>
          <p:nvPr/>
        </p:nvSpPr>
        <p:spPr>
          <a:xfrm>
            <a:off x="607219" y="3279316"/>
            <a:ext cx="3338922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models (LLM + VLM)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0772" y="3731828"/>
            <a:ext cx="3631816" cy="935831"/>
          </a:xfrm>
          <a:prstGeom prst="roundRect">
            <a:avLst>
              <a:gd name="adj" fmla="val 18321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219" y="3936541"/>
            <a:ext cx="3338922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F3F6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475" dirty="0"/>
          </a:p>
        </p:txBody>
      </p:sp>
      <p:sp>
        <p:nvSpPr>
          <p:cNvPr id="18" name="Text 16"/>
          <p:cNvSpPr/>
          <p:nvPr/>
        </p:nvSpPr>
        <p:spPr>
          <a:xfrm>
            <a:off x="607219" y="4308016"/>
            <a:ext cx="344865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doctor-confirmed decisions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42606" y="1674428"/>
            <a:ext cx="2173821" cy="1450181"/>
          </a:xfrm>
          <a:prstGeom prst="roundRect">
            <a:avLst>
              <a:gd name="adj" fmla="val 11823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60478" y="1792300"/>
            <a:ext cx="193807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50" kern="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FRAMEWORK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37618" y="1987002"/>
            <a:ext cx="747817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60478" y="1999804"/>
            <a:ext cx="702097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96865" y="1987002"/>
            <a:ext cx="859549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19725" y="1999804"/>
            <a:ext cx="813829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TypeScript 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37618" y="2259469"/>
            <a:ext cx="747817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60478" y="2272271"/>
            <a:ext cx="702097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Router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09296" y="1674428"/>
            <a:ext cx="2173932" cy="1450181"/>
          </a:xfrm>
          <a:prstGeom prst="roundRect">
            <a:avLst>
              <a:gd name="adj" fmla="val 11823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27168" y="1792300"/>
            <a:ext cx="193818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50" kern="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04308" y="1987002"/>
            <a:ext cx="1474582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27168" y="1999804"/>
            <a:ext cx="1428862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Google Gemini 2.0 Flash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04308" y="2259469"/>
            <a:ext cx="1251005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27168" y="2272271"/>
            <a:ext cx="1205285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z-ai SDK (fallback)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04308" y="2531936"/>
            <a:ext cx="915472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627168" y="2544738"/>
            <a:ext cx="869752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@google/genai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42606" y="3217478"/>
            <a:ext cx="2173821" cy="1450181"/>
          </a:xfrm>
          <a:prstGeom prst="roundRect">
            <a:avLst>
              <a:gd name="adj" fmla="val 11823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360478" y="3335350"/>
            <a:ext cx="193807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50" kern="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37618" y="3530052"/>
            <a:ext cx="747817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360478" y="3542854"/>
            <a:ext cx="702097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 ORM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96865" y="3530052"/>
            <a:ext cx="859549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19725" y="3542854"/>
            <a:ext cx="813829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(dev)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37618" y="3802519"/>
            <a:ext cx="1027316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360478" y="3815321"/>
            <a:ext cx="981596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(prod)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09296" y="3217478"/>
            <a:ext cx="2173932" cy="1450181"/>
          </a:xfrm>
          <a:prstGeom prst="roundRect">
            <a:avLst>
              <a:gd name="adj" fmla="val 11823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627168" y="3335350"/>
            <a:ext cx="193818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50" kern="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REALTIME &amp; UI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04308" y="3530052"/>
            <a:ext cx="691895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627168" y="3542854"/>
            <a:ext cx="646175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Socket.io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07632" y="3530052"/>
            <a:ext cx="971394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330492" y="3542854"/>
            <a:ext cx="925674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TanStack Query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605794" y="3802519"/>
            <a:ext cx="577077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627168" y="3815321"/>
            <a:ext cx="534330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Zustand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195788" y="3802519"/>
            <a:ext cx="691895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218648" y="3815321"/>
            <a:ext cx="646175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shadcn/ui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604308" y="4074986"/>
            <a:ext cx="915472" cy="240920"/>
          </a:xfrm>
          <a:prstGeom prst="roundRect">
            <a:avLst>
              <a:gd name="adj" fmla="val 31629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627168" y="4087788"/>
            <a:ext cx="869752" cy="2153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framer-motion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812150" y="4839221"/>
            <a:ext cx="16519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415265"/>
            <a:ext cx="1483735" cy="240920"/>
          </a:xfrm>
          <a:prstGeom prst="roundRect">
            <a:avLst>
              <a:gd name="adj" fmla="val 3949641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2944" y="478073"/>
            <a:ext cx="110940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 HIGHLIGHTS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50069" y="48566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7674955" y="400050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07102" y="43219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8017855" y="452735"/>
            <a:ext cx="784004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MedAssist AI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457200" y="814388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51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51" kern="0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judges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51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will see.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57200" y="1167222"/>
            <a:ext cx="5429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end-to-end flows — emergency triage in the chat, and a visual medicine lookup via the VLM.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60772" y="1508336"/>
            <a:ext cx="4036219" cy="3231542"/>
          </a:xfrm>
          <a:prstGeom prst="roundRect">
            <a:avLst>
              <a:gd name="adj" fmla="val 5306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17083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864394" y="1683358"/>
            <a:ext cx="3457575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Triage in action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508336" y="2019114"/>
            <a:ext cx="2813633" cy="272467"/>
          </a:xfrm>
          <a:prstGeom prst="roundRect">
            <a:avLst>
              <a:gd name="adj" fmla="val 48942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08336" y="2019114"/>
            <a:ext cx="2813633" cy="321930"/>
          </a:xfrm>
          <a:prstGeom prst="rect">
            <a:avLst/>
          </a:prstGeom>
          <a:noFill/>
          <a:ln/>
        </p:spPr>
        <p:txBody>
          <a:bodyPr wrap="square" lIns="92869" tIns="64294" rIns="92869" bIns="64294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3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have chest tightness and shortness of breath.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5794" y="2377306"/>
            <a:ext cx="3391272" cy="560226"/>
          </a:xfrm>
          <a:prstGeom prst="roundRect">
            <a:avLst>
              <a:gd name="adj" fmla="val 23803"/>
            </a:avLst>
          </a:prstGeom>
          <a:solidFill>
            <a:srgbClr val="8B98A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5794" y="2377306"/>
            <a:ext cx="3686175" cy="661929"/>
          </a:xfrm>
          <a:prstGeom prst="rect">
            <a:avLst/>
          </a:prstGeom>
          <a:noFill/>
          <a:ln/>
        </p:spPr>
        <p:txBody>
          <a:bodyPr wrap="square" lIns="92869" tIns="64294" rIns="92869" bIns="64294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E24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EMERGENCY_FLAG: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possible cardiac event. This may be a medical emergency — please don't wait. A case has been routed to the doctor's urgent queue.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9366" y="4132659"/>
            <a:ext cx="3679031" cy="428625"/>
          </a:xfrm>
          <a:prstGeom prst="roundRect">
            <a:avLst>
              <a:gd name="adj" fmla="val 22222"/>
            </a:avLst>
          </a:prstGeom>
          <a:solidFill>
            <a:srgbClr val="E2495B">
              <a:alpha val="14000"/>
            </a:srgbClr>
          </a:solidFill>
          <a:ln w="7144">
            <a:solidFill>
              <a:srgbClr val="E2495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00113" y="4207669"/>
            <a:ext cx="33289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2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 emergency banner auto-appears with Call Ambulance (108), Notify Doctor, Nearest ER.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47009" y="1508336"/>
            <a:ext cx="4036219" cy="3231542"/>
          </a:xfrm>
          <a:prstGeom prst="roundRect">
            <a:avLst>
              <a:gd name="adj" fmla="val 5306"/>
            </a:avLst>
          </a:prstGeom>
          <a:solidFill>
            <a:srgbClr val="121821"/>
          </a:solidFill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2031" y="17083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5050631" y="1683358"/>
            <a:ext cx="3457575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Medicine Lens in action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993481" y="2033401"/>
            <a:ext cx="1561253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Photo of a blister pack uploaded →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22031" y="203384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B98A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4822031" y="2248719"/>
            <a:ext cx="3686175" cy="574514"/>
          </a:xfrm>
          <a:prstGeom prst="roundRect">
            <a:avLst>
              <a:gd name="adj" fmla="val 23211"/>
            </a:avLst>
          </a:prstGeom>
          <a:solidFill>
            <a:srgbClr val="8B98A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2031" y="2248719"/>
            <a:ext cx="3686175" cy="678810"/>
          </a:xfrm>
          <a:prstGeom prst="rect">
            <a:avLst/>
          </a:prstGeom>
          <a:noFill/>
          <a:ln/>
        </p:spPr>
        <p:txBody>
          <a:bodyPr wrap="square" lIns="92869" tIns="71438" rIns="92869" bIns="71438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packaging shows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F81C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PARACETAMOL 500MG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white oval pills. This is a pain reliever / fever reducer, commonly used for mild to moderate pain or fever. Always confirm with a pharmacist or doctor before use.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5603" y="4271963"/>
            <a:ext cx="3679031" cy="289322"/>
          </a:xfrm>
          <a:prstGeom prst="roundRect">
            <a:avLst>
              <a:gd name="adj" fmla="val 32922"/>
            </a:avLst>
          </a:prstGeom>
          <a:noFill/>
          <a:ln w="7144">
            <a:solidFill>
              <a:srgbClr val="2F81C2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86350" y="4346972"/>
            <a:ext cx="332898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Educational only, never prescribes. Reads existing labels — doesn't guess.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12150" y="4839221"/>
            <a:ext cx="16519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0258" y="387248"/>
            <a:ext cx="723483" cy="240920"/>
          </a:xfrm>
          <a:prstGeom prst="roundRect">
            <a:avLst>
              <a:gd name="adj" fmla="val 3949641"/>
            </a:avLst>
          </a:prstGeom>
          <a:solidFill>
            <a:srgbClr val="E2495B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68862" y="450056"/>
            <a:ext cx="34915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E2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325987" y="45764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249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274320" y="786817"/>
            <a:ext cx="8595360" cy="898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76"/>
              </a:lnSpc>
              <a:buNone/>
            </a:pPr>
            <a:r>
              <a:rPr lang="en-US" sz="2925" b="1" spc="-73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Less busywork. </a:t>
            </a:r>
            <a:pPr algn="ctr" indent="0" marL="0">
              <a:lnSpc>
                <a:spcPts val="3276"/>
              </a:lnSpc>
              <a:buNone/>
            </a:pPr>
            <a:r>
              <a:rPr lang="en-US" sz="2925" b="1" spc="-73" kern="0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Better care.</a:t>
            </a:r>
            <a:pPr algn="ctr" indent="0" marL="0">
              <a:lnSpc>
                <a:spcPts val="3276"/>
              </a:lnSpc>
              <a:buNone/>
            </a:pPr>
            <a:r>
              <a:rPr lang="en-US" sz="2925" b="1" spc="-73" kern="0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ctr" indent="0" marL="0">
              <a:lnSpc>
                <a:spcPts val="3276"/>
              </a:lnSpc>
              <a:buNone/>
            </a:pPr>
            <a:r>
              <a:rPr lang="en-US" sz="2925" b="1" spc="-73" kern="0" dirty="0">
                <a:solidFill>
                  <a:srgbClr val="E2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Safer decisions.</a:t>
            </a:r>
            <a:endParaRPr lang="en-US" sz="2925" dirty="0"/>
          </a:p>
        </p:txBody>
      </p:sp>
      <p:sp>
        <p:nvSpPr>
          <p:cNvPr id="6" name="Text 4"/>
          <p:cNvSpPr/>
          <p:nvPr/>
        </p:nvSpPr>
        <p:spPr>
          <a:xfrm>
            <a:off x="2071688" y="1761716"/>
            <a:ext cx="5000625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8B98A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MedAssist AI doesn't replace doctors — it clears the admin noise around them so patients get faster, safer, more human care.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845467" y="2406139"/>
            <a:ext cx="1031892" cy="294833"/>
          </a:xfrm>
          <a:prstGeom prst="roundRect">
            <a:avLst>
              <a:gd name="adj" fmla="val 3227412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39790" y="2490378"/>
            <a:ext cx="6004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Faster triage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982627" y="249640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917365" y="2406139"/>
            <a:ext cx="1053882" cy="294833"/>
          </a:xfrm>
          <a:prstGeom prst="roundRect">
            <a:avLst>
              <a:gd name="adj" fmla="val 3227412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11687" y="2490378"/>
            <a:ext cx="6223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2F81C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Safer routing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54525" y="249640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011251" y="2406139"/>
            <a:ext cx="1287281" cy="294833"/>
          </a:xfrm>
          <a:prstGeom prst="roundRect">
            <a:avLst>
              <a:gd name="adj" fmla="val 3227412"/>
            </a:avLst>
          </a:prstGeom>
          <a:solidFill>
            <a:srgbClr val="E2495B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05574" y="2490378"/>
            <a:ext cx="8557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E2495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Human-confirmed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48411" y="249640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249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57200" y="4118372"/>
            <a:ext cx="8229600" cy="7144"/>
          </a:xfrm>
          <a:prstGeom prst="rect">
            <a:avLst/>
          </a:prstGeom>
          <a:solidFill>
            <a:srgbClr val="2F81C2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4370189"/>
            <a:ext cx="271463" cy="271463"/>
          </a:xfrm>
          <a:prstGeom prst="roundRect">
            <a:avLst>
              <a:gd name="adj" fmla="val 38596"/>
            </a:avLst>
          </a:prstGeom>
          <a:solidFill>
            <a:srgbClr val="2F81C2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9347" y="440233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F81C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800100" y="4422874"/>
            <a:ext cx="784004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3F6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MedAssist AI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029861" y="4268391"/>
            <a:ext cx="2656939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github.com/WANAONTOP/MedAssite-AI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29861" y="4436269"/>
            <a:ext cx="2656939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 2 · AI Automation &amp; Intelligent Agents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29861" y="4604147"/>
            <a:ext cx="26569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Built for TakeOver’26 Hackathon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812150" y="4839221"/>
            <a:ext cx="16519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8B98A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2026-07-08T04:16:08Z</dcterms:created>
  <dcterms:modified xsi:type="dcterms:W3CDTF">2026-07-08T04:16:08Z</dcterms:modified>
</cp:coreProperties>
</file>